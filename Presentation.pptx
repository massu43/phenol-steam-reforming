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71" r:id="rId6"/>
    <p:sldId id="272" r:id="rId7"/>
    <p:sldId id="261" r:id="rId8"/>
    <p:sldId id="269" r:id="rId9"/>
    <p:sldId id="270" r:id="rId10"/>
    <p:sldId id="262" r:id="rId11"/>
    <p:sldId id="274" r:id="rId12"/>
    <p:sldId id="263" r:id="rId13"/>
    <p:sldId id="276" r:id="rId14"/>
    <p:sldId id="275" r:id="rId15"/>
    <p:sldId id="277" r:id="rId16"/>
    <p:sldId id="264" r:id="rId17"/>
    <p:sldId id="278" r:id="rId18"/>
    <p:sldId id="279" r:id="rId19"/>
    <p:sldId id="280" r:id="rId20"/>
    <p:sldId id="282" r:id="rId21"/>
    <p:sldId id="281" r:id="rId22"/>
    <p:sldId id="265" r:id="rId23"/>
    <p:sldId id="285" r:id="rId24"/>
    <p:sldId id="286" r:id="rId25"/>
    <p:sldId id="308" r:id="rId26"/>
    <p:sldId id="288" r:id="rId27"/>
    <p:sldId id="289" r:id="rId28"/>
    <p:sldId id="309" r:id="rId29"/>
    <p:sldId id="311" r:id="rId30"/>
    <p:sldId id="293" r:id="rId31"/>
    <p:sldId id="310" r:id="rId32"/>
    <p:sldId id="300" r:id="rId33"/>
    <p:sldId id="297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15" autoAdjust="0"/>
    <p:restoredTop sz="94660"/>
  </p:normalViewPr>
  <p:slideViewPr>
    <p:cSldViewPr snapToGrid="0" snapToObjects="1">
      <p:cViewPr>
        <p:scale>
          <a:sx n="90" d="100"/>
          <a:sy n="90" d="100"/>
        </p:scale>
        <p:origin x="1397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8567B-3E3A-449A-B6FF-CCF1391557C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5DA22-1C77-4851-9748-2CE1645D41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895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05DA22-1C77-4851-9748-2CE1645D419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623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3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1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1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8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1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840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9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5717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94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1801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514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1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95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15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016236124002485" TargetMode="External"/><Relationship Id="rId2" Type="http://schemas.openxmlformats.org/officeDocument/2006/relationships/hyperlink" Target="https://www.sciencedirect.com/science/article/pii/S001623612203535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s.acs.org/doi/full/10.1021/%20acs.iecr.5b03828" TargetMode="External"/><Relationship Id="rId4" Type="http://schemas.openxmlformats.org/officeDocument/2006/relationships/hyperlink" Target="https://www.sciencedirect.com/science/article/pii/S221334371630373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5698" y="3429000"/>
            <a:ext cx="5826719" cy="1646302"/>
          </a:xfrm>
        </p:spPr>
        <p:txBody>
          <a:bodyPr>
            <a:normAutofit fontScale="90000"/>
          </a:bodyPr>
          <a:lstStyle/>
          <a:p>
            <a:pPr algn="ctr"/>
            <a:r>
              <a:rPr sz="3100" dirty="0"/>
              <a:t>Kinetic Modeling of Phenol Steam Reforming</a:t>
            </a:r>
          </a:p>
          <a:p>
            <a:pPr algn="ctr"/>
            <a:r>
              <a:rPr sz="3100" dirty="0"/>
              <a:t>in a Fixed Bed Reactor</a:t>
            </a:r>
            <a:br>
              <a:rPr lang="en-US" dirty="0"/>
            </a:br>
            <a:r>
              <a:rPr lang="en-US" dirty="0"/>
              <a:t>						</a:t>
            </a:r>
            <a:r>
              <a:rPr lang="en-IN" sz="2200" dirty="0"/>
              <a:t>- CP302</a:t>
            </a:r>
            <a:br>
              <a:rPr lang="en-IN" sz="2000" dirty="0"/>
            </a:br>
            <a:r>
              <a:rPr lang="en-IN" sz="2000" dirty="0"/>
              <a:t>					    	     -Guided by:</a:t>
            </a:r>
            <a:br>
              <a:rPr lang="en-IN" sz="2000" dirty="0"/>
            </a:br>
            <a:r>
              <a:rPr lang="en-IN" sz="2000" dirty="0"/>
              <a:t>							       Dr. Tarak Mondal</a:t>
            </a:r>
            <a:endParaRPr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586288"/>
            <a:ext cx="6400800" cy="1752600"/>
          </a:xfrm>
        </p:spPr>
        <p:txBody>
          <a:bodyPr>
            <a:normAutofit/>
          </a:bodyPr>
          <a:lstStyle/>
          <a:p>
            <a:endParaRPr lang="en-US" dirty="0"/>
          </a:p>
          <a:p>
            <a:pPr algn="l"/>
            <a:r>
              <a:rPr dirty="0"/>
              <a:t>Presented by: </a:t>
            </a:r>
            <a:endParaRPr lang="en-US" dirty="0"/>
          </a:p>
          <a:p>
            <a:pPr algn="l"/>
            <a:r>
              <a:rPr lang="en-US" dirty="0"/>
              <a:t>Sayed Musaraf Ali</a:t>
            </a:r>
          </a:p>
          <a:p>
            <a:pPr algn="l"/>
            <a:r>
              <a:rPr lang="en-US" dirty="0"/>
              <a:t>2022CHB1057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240BB4-BE3B-7D5F-A7C5-00E69A6BC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352" y="412574"/>
            <a:ext cx="1841614" cy="1737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0513"/>
            <a:ext cx="6347713" cy="13208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949170"/>
            <a:ext cx="6347714" cy="3880773"/>
          </a:xfrm>
        </p:spPr>
        <p:txBody>
          <a:bodyPr/>
          <a:lstStyle/>
          <a:p>
            <a:r>
              <a:rPr dirty="0"/>
              <a:t>Phenol steam reforming (PSR) is a promising route for hydrogen production.</a:t>
            </a:r>
          </a:p>
          <a:p>
            <a:r>
              <a:rPr dirty="0"/>
              <a:t>Kinetic modeling is essential for reactor design and optimization.</a:t>
            </a:r>
          </a:p>
          <a:p>
            <a:r>
              <a:rPr lang="en-US" b="1" dirty="0"/>
              <a:t>Why Kinetic Modelling?</a:t>
            </a:r>
            <a:endParaRPr lang="en-US" dirty="0"/>
          </a:p>
          <a:p>
            <a:pPr lvl="1"/>
            <a:r>
              <a:rPr lang="en-US" dirty="0"/>
              <a:t>Provides quantitative understanding of reaction rates.</a:t>
            </a:r>
          </a:p>
          <a:p>
            <a:pPr lvl="1"/>
            <a:r>
              <a:rPr lang="en-US" dirty="0"/>
              <a:t>Essential for reactor design, scale-up, and process optimization.</a:t>
            </a:r>
          </a:p>
          <a:p>
            <a:pPr lvl="1"/>
            <a:r>
              <a:rPr lang="en-US" dirty="0"/>
              <a:t>Enables comparison of different catalytic systems.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C67E6-3EF4-9804-4EF9-D7A6C171D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13" y="4368801"/>
            <a:ext cx="5227084" cy="2010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the kinetics of phenol steam reforming and identify suitable models.</a:t>
            </a:r>
          </a:p>
          <a:p>
            <a:r>
              <a:rPr lang="en-US" dirty="0"/>
              <a:t>Develop kinetic models for phenol steam reforming in a fixed-bed reactor.</a:t>
            </a:r>
          </a:p>
          <a:p>
            <a:r>
              <a:rPr dirty="0"/>
              <a:t>Estimate kinetic parameters from experimental data</a:t>
            </a:r>
            <a:r>
              <a:rPr lang="en-US" dirty="0"/>
              <a:t> by different </a:t>
            </a:r>
            <a:r>
              <a:rPr lang="en-IN" dirty="0"/>
              <a:t>regression techniques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Validate model using statistical &amp; residual analysis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Kinetic Models Considered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599" y="2160590"/>
                <a:ext cx="6611472" cy="388077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Power Law Model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Arrhenius: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kinetic model contains 4 parameters (km, </a:t>
                </a:r>
                <a:r>
                  <a:rPr lang="en-US" dirty="0" err="1"/>
                  <a:t>Ea</a:t>
                </a:r>
                <a:r>
                  <a:rPr lang="en-US" dirty="0"/>
                  <a:t>, n, m).</a:t>
                </a:r>
              </a:p>
              <a:p>
                <a:r>
                  <a:rPr lang="en-US" dirty="0"/>
                  <a:t>This formulation enables parameter estimation by combining partial pressure dependence and temperature dependence.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2160590"/>
                <a:ext cx="6611472" cy="3880773"/>
              </a:xfrm>
              <a:blipFill>
                <a:blip r:embed="rId2"/>
                <a:stretch>
                  <a:fillRect l="-184" t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D6E041-B4C8-45E5-43D9-C88AB0E2D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927" y="3193076"/>
            <a:ext cx="2553056" cy="552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B973-8071-B252-96FB-C4D1331A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Estimation of Kinetic Model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E1663-D419-15E4-45B6-D588A5114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Power-law rate expression: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ur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ur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ur-IN" i="1">
                                      <a:latin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ur-IN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ur-IN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ur-IN" b="0" dirty="0"/>
              </a:p>
              <a:p>
                <a:r>
                  <a:rPr lang="en-IN" dirty="0"/>
                  <a:t>Used MATLAB </a:t>
                </a:r>
                <a:r>
                  <a:rPr lang="en-IN" dirty="0" err="1"/>
                  <a:t>nlinfit</a:t>
                </a:r>
                <a:r>
                  <a:rPr lang="en-IN" dirty="0"/>
                  <a:t>, </a:t>
                </a:r>
                <a:r>
                  <a:rPr lang="en-IN" dirty="0" err="1"/>
                  <a:t>lsqcurvefit</a:t>
                </a:r>
                <a:r>
                  <a:rPr lang="en-IN" dirty="0"/>
                  <a:t>, </a:t>
                </a:r>
                <a:r>
                  <a:rPr lang="en-IN" dirty="0" err="1"/>
                  <a:t>fmincon</a:t>
                </a:r>
                <a:r>
                  <a:rPr lang="en-IN" dirty="0"/>
                  <a:t> for regression fitting.</a:t>
                </a:r>
              </a:p>
              <a:p>
                <a:pPr lvl="1"/>
                <a:r>
                  <a:rPr lang="en-IN" dirty="0"/>
                  <a:t>Multiple Linear Regression (OLS, per temperature)</a:t>
                </a:r>
              </a:p>
              <a:p>
                <a:pPr lvl="1"/>
                <a:r>
                  <a:rPr lang="en-US" dirty="0"/>
                  <a:t>Global Linearized Regression (All data together)</a:t>
                </a:r>
              </a:p>
              <a:p>
                <a:pPr lvl="1"/>
                <a:r>
                  <a:rPr lang="en-IN" dirty="0"/>
                  <a:t>Global Nonlinear Regression</a:t>
                </a:r>
              </a:p>
              <a:p>
                <a:r>
                  <a:rPr lang="en-IN" dirty="0"/>
                  <a:t>The objective function is:</a:t>
                </a:r>
              </a:p>
              <a:p>
                <a:pPr marL="0" indent="0" algn="ctr">
                  <a:buNone/>
                </a:pPr>
                <a:r>
                  <a:rPr lang="en-IN" b="0" dirty="0"/>
                  <a:t>Minimize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grow m:val="on"/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ur-IN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ur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ur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ur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ur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𝑒𝑥𝑝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ur-IN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𝑚𝑜𝑑𝑒𝑙</m:t>
                                    </m:r>
                                    <m:r>
                                      <a:rPr lang="ur-IN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ur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ur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IN" b="1" dirty="0"/>
              </a:p>
              <a:p>
                <a:r>
                  <a:rPr lang="en-IN" dirty="0"/>
                  <a:t>Validate models (R², residuals, confidence intervals).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AE1663-D419-15E4-45B6-D588A5114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" t="-1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37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2BCE8-C6C5-E234-056A-D4041465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167813"/>
            <a:ext cx="6347713" cy="1320800"/>
          </a:xfrm>
        </p:spPr>
        <p:txBody>
          <a:bodyPr/>
          <a:lstStyle/>
          <a:p>
            <a:r>
              <a:rPr lang="en-US" dirty="0"/>
              <a:t>Regression Techniques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6989D-5391-D092-25DC-9982B8D15D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7" y="984072"/>
                <a:ext cx="6347714" cy="58584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Multiple Linear Regression (per Temperature)</a:t>
                </a:r>
              </a:p>
              <a:p>
                <a:pPr lvl="1"/>
                <a:r>
                  <a:rPr lang="en-US" dirty="0"/>
                  <a:t>Fits the power law form at each temperature separately:</a:t>
                </a:r>
              </a:p>
              <a:p>
                <a:pPr marL="0" indent="0" algn="ctr">
                  <a:buNone/>
                </a:pPr>
                <a:r>
                  <a:rPr lang="en-IN" dirty="0"/>
                  <a:t>		</a:t>
                </a:r>
                <a:r>
                  <a:rPr lang="en-IN" i="1" dirty="0"/>
                  <a:t>ln(r​) = ln(k) + </a:t>
                </a:r>
                <a:r>
                  <a:rPr lang="en-IN" i="1" dirty="0" err="1"/>
                  <a:t>n.ln</a:t>
                </a:r>
                <a:r>
                  <a:rPr lang="en-IN" i="1" dirty="0"/>
                  <a:t>(</a:t>
                </a:r>
                <a:r>
                  <a:rPr lang="en-IN" i="1" dirty="0" err="1"/>
                  <a:t>Pph</a:t>
                </a:r>
                <a:r>
                  <a:rPr lang="en-IN" i="1" dirty="0"/>
                  <a:t>) + </a:t>
                </a:r>
                <a:r>
                  <a:rPr lang="en-IN" i="1" dirty="0" err="1"/>
                  <a:t>m.ln</a:t>
                </a:r>
                <a:r>
                  <a:rPr lang="en-IN" i="1" dirty="0"/>
                  <a:t>(Pw​)</a:t>
                </a:r>
              </a:p>
              <a:p>
                <a:pPr lvl="1"/>
                <a:r>
                  <a:rPr lang="en-IN" dirty="0"/>
                  <a:t>Requires a second step (Arrhenius fit) to get activation energy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ur-IN" dirty="0"/>
                  <a:t>.</a:t>
                </a:r>
                <a:endParaRPr lang="en-US" dirty="0"/>
              </a:p>
              <a:p>
                <a:r>
                  <a:rPr lang="en-US" b="1" dirty="0"/>
                  <a:t>Global Linearized Regression (All data together)</a:t>
                </a:r>
              </a:p>
              <a:p>
                <a:pPr lvl="1"/>
                <a:r>
                  <a:rPr lang="en-US" dirty="0"/>
                  <a:t>Linearizes the full model including temperature: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smtClean="0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5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/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15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)+</m:t>
                      </m:r>
                      <m:func>
                        <m:funcPr>
                          <m:ctrlPr>
                            <a:rPr lang="ur-IN" sz="1500" i="1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d>
                            <m:dPr>
                              <m:ctrlPr>
                                <a:rPr lang="ur-IN" sz="1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ur-IN" sz="15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ur-IN" sz="15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ur-IN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ur-IN" sz="1500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ur-IN" sz="15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ur-IN" sz="1500" i="1">
                                      <a:latin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sz="15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5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sz="15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𝑛𝑙𝑛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/>
                      </m:sSub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𝑚𝑙𝑛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ur-IN" sz="15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ur-IN" sz="15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/>
                      </m:sSubSup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ur-IN" sz="1500" i="1" dirty="0"/>
              </a:p>
              <a:p>
                <a:pPr lvl="1"/>
                <a:r>
                  <a:rPr lang="en-US" dirty="0"/>
                  <a:t>Linearization assumes log-transformed data → may distort error structure.</a:t>
                </a:r>
              </a:p>
              <a:p>
                <a:r>
                  <a:rPr lang="en-IN" dirty="0"/>
                  <a:t>Global Nonlinear Regression</a:t>
                </a:r>
              </a:p>
              <a:p>
                <a:pPr lvl="1"/>
                <a:r>
                  <a:rPr lang="en-US" dirty="0"/>
                  <a:t>Directly fits the nonlinear power law: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ur-IN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ur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ur-IN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ur-IN" i="1">
                                      <a:latin typeface="Cambria Math" panose="020405030504060302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ur-IN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  <m:r>
                        <a:rPr lang="ur-IN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  <m:sup>
                          <m:r>
                            <a:rPr lang="ur-IN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Computationally heavier, sensitive to initial guesses.</a:t>
                </a:r>
              </a:p>
              <a:p>
                <a:pPr lvl="1"/>
                <a:endParaRPr lang="ur-I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76989D-5391-D092-25DC-9982B8D15D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7" y="984072"/>
                <a:ext cx="6347714" cy="5858475"/>
              </a:xfrm>
              <a:blipFill>
                <a:blip r:embed="rId2"/>
                <a:stretch>
                  <a:fillRect l="-192" t="-624" r="-4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27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Multiple Linear Regression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DBEA8B-92B5-85A3-A257-138A3A7F5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Estimated Parameters at each Temperature: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Arrhenius Fit Plot:</a:t>
            </a:r>
          </a:p>
          <a:p>
            <a:pPr marL="0" indent="0">
              <a:buNone/>
            </a:pPr>
            <a:r>
              <a:rPr lang="en-US" dirty="0"/>
              <a:t>          Slope = -</a:t>
            </a:r>
            <a:r>
              <a:rPr lang="en-US" dirty="0" err="1"/>
              <a:t>Ea</a:t>
            </a:r>
            <a:r>
              <a:rPr lang="en-US" dirty="0"/>
              <a:t>/R           |          y-intercept = ln(km)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A461-E052-2216-C790-CE0E8A299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80" y="2658533"/>
            <a:ext cx="6677957" cy="895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17E9D4-13C7-556E-7A63-9091B7E1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480" y="4736087"/>
            <a:ext cx="5029902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F853-DB16-100C-2D25-AFBD1795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625" y="24512"/>
            <a:ext cx="6347713" cy="1320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EBC21-6AFD-A390-0066-28FB44BC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36F12-633E-F42B-7BFD-ED9877E8E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625"/>
            <a:ext cx="9144000" cy="58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39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EF632-C159-9524-9DA4-4E1F9E096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51" y="351182"/>
            <a:ext cx="6347713" cy="1320800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Global Linear Regression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F2805-F378-BB48-E655-E986EE9A0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Estimated Parameters in one shot.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1465BD-A655-EBD3-B1EF-72435C76A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7" y="2757393"/>
            <a:ext cx="6347713" cy="209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Non-Linear Regression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Optimized parameters (by </a:t>
            </a:r>
            <a:r>
              <a:rPr lang="en-US" dirty="0" err="1"/>
              <a:t>fmincon</a:t>
            </a:r>
            <a:r>
              <a:rPr lang="en-US" dirty="0"/>
              <a:t>):</a:t>
            </a:r>
          </a:p>
          <a:p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CC8D50-9D55-CC6B-59BC-09AA93E5D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306563"/>
              </p:ext>
            </p:extLst>
          </p:nvPr>
        </p:nvGraphicFramePr>
        <p:xfrm>
          <a:off x="861313" y="2687541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67703109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79674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34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0.15232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72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 KJ/mol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125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54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1.87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54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0.6117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8946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DD378-6259-55AF-B26A-197832C6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0967C-1EA5-2A16-802A-805C1EC98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672610-23F4-DB46-0172-53D0F4A5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09"/>
            <a:ext cx="9144000" cy="582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591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Non-Linear Regression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Optimized parameters (by </a:t>
            </a:r>
            <a:r>
              <a:rPr lang="en-US" dirty="0" err="1"/>
              <a:t>lsqcurvefit</a:t>
            </a:r>
            <a:r>
              <a:rPr lang="en-US" dirty="0"/>
              <a:t>):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0DF158-157C-845D-8D01-454409CCE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558743"/>
              </p:ext>
            </p:extLst>
          </p:nvPr>
        </p:nvGraphicFramePr>
        <p:xfrm>
          <a:off x="735455" y="2782047"/>
          <a:ext cx="6096000" cy="2233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949877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549621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9636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2027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0.07695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0.00637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57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46.218 KJ/mol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1.7822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88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0.06755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0.04712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5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0.68055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0.1785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622004"/>
                  </a:ext>
                </a:extLst>
              </a:tr>
              <a:tr h="3795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3506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9E116-5563-F5B8-98EA-DCE65693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E484-9E42-014E-BAAE-8394F9AA4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35C69-4E85-F88B-44F2-96933A66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571"/>
            <a:ext cx="9144000" cy="564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3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E653D-859A-53D3-79CF-4C668D260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3213-2371-C281-E0F1-7F907182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Results</a:t>
            </a:r>
            <a:br>
              <a:rPr lang="en-US" dirty="0"/>
            </a:br>
            <a:r>
              <a:rPr lang="en-US" dirty="0"/>
              <a:t>Non-Linear Regression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FED86-3FD7-8DD0-793A-A6EAE01E3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Optimized parameters (by </a:t>
            </a:r>
            <a:r>
              <a:rPr lang="en-US" dirty="0" err="1"/>
              <a:t>nlinfit</a:t>
            </a:r>
            <a:r>
              <a:rPr lang="en-US" dirty="0"/>
              <a:t>):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05D28-7FDE-801F-20CF-C20F0CA90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2738340"/>
            <a:ext cx="6612953" cy="1752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683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CABC-8F11-2656-8AA0-FA51EBAF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253215-3FBD-0D62-1782-C60BD8CE8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B1EB30-97D1-DA0E-3DF5-83A33541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1" y="951676"/>
            <a:ext cx="8935697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766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1320800"/>
          </a:xfrm>
        </p:spPr>
        <p:txBody>
          <a:bodyPr/>
          <a:lstStyle/>
          <a:p>
            <a:pPr algn="ctr"/>
            <a:r>
              <a:rPr dirty="0"/>
              <a:t>Model Validation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14872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Goodness of Fit, R2 = 0.9889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C9389-CA65-719C-A39B-684DFF117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477037"/>
            <a:ext cx="9144000" cy="5380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62EA-4676-F174-7885-CDE1B54DB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12E3-9A45-7A0C-EE79-4728A203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1320800"/>
          </a:xfrm>
        </p:spPr>
        <p:txBody>
          <a:bodyPr/>
          <a:lstStyle/>
          <a:p>
            <a:pPr algn="ctr"/>
            <a:r>
              <a:rPr dirty="0"/>
              <a:t>Model Validation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A61D9-F018-5092-F6CE-7B5C13F7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4872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Goodness of Fit by </a:t>
            </a:r>
            <a:r>
              <a:rPr lang="en-US" dirty="0" err="1"/>
              <a:t>nlinfit</a:t>
            </a:r>
            <a:r>
              <a:rPr lang="en-US" dirty="0"/>
              <a:t>, R2 = 0.9843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F0FBD-3E55-4782-2A84-3F97BE82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036"/>
            <a:ext cx="9144000" cy="538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07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4ABB-BBC5-1381-D91E-09632C8E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D10F-7080-2C57-BDA8-E06373D81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1320800"/>
          </a:xfrm>
        </p:spPr>
        <p:txBody>
          <a:bodyPr/>
          <a:lstStyle/>
          <a:p>
            <a:pPr algn="ctr"/>
            <a:r>
              <a:rPr dirty="0"/>
              <a:t>Model Validation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8C8CB-FA63-5B2D-D8E9-6B082704A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4872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Goodness of Fit, R2 = 0.9876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56A3D2-5B0D-5FC1-D4CC-D6873378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037"/>
            <a:ext cx="9126224" cy="545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807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5C56-4517-FD1B-26A8-32481110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A5DDB-33A7-7025-9316-7BAF9E6D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1320800"/>
          </a:xfrm>
        </p:spPr>
        <p:txBody>
          <a:bodyPr/>
          <a:lstStyle/>
          <a:p>
            <a:pPr algn="ctr"/>
            <a:r>
              <a:rPr dirty="0"/>
              <a:t>Model Validation</a:t>
            </a:r>
            <a:br>
              <a:rPr lang="en-US" dirty="0"/>
            </a:b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299DE-BEA4-9B6B-B4F9-134B8932D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4872"/>
            <a:ext cx="6347714" cy="3880773"/>
          </a:xfrm>
        </p:spPr>
        <p:txBody>
          <a:bodyPr>
            <a:normAutofit/>
          </a:bodyPr>
          <a:lstStyle/>
          <a:p>
            <a:r>
              <a:rPr lang="en-US" dirty="0"/>
              <a:t>Goodness of Fit, R2 = 0.6117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DF963-D372-2D1C-3F13-E6296E009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7037"/>
            <a:ext cx="9144000" cy="538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63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AD97-219B-E0FA-D910-C52BECDB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951" y="346441"/>
            <a:ext cx="6347713" cy="1320800"/>
          </a:xfrm>
        </p:spPr>
        <p:txBody>
          <a:bodyPr/>
          <a:lstStyle/>
          <a:p>
            <a:pPr algn="ctr"/>
            <a:r>
              <a:rPr lang="en-US" dirty="0"/>
              <a:t>Error Distributions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1DFC-EE0A-47F0-255D-4BAEC0E3C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6348B9-F490-7629-93E6-7C7F8B48B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3892"/>
            <a:ext cx="9144000" cy="568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27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34BF-3718-D529-E14D-7EC90780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15570"/>
            <a:ext cx="6347713" cy="1320800"/>
          </a:xfrm>
        </p:spPr>
        <p:txBody>
          <a:bodyPr/>
          <a:lstStyle/>
          <a:p>
            <a:pPr algn="ctr"/>
            <a:r>
              <a:rPr lang="en-IN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EFD9E-0BEF-D195-A039-C4BC709FD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432977"/>
            <a:ext cx="6347714" cy="3880773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Global Linear, Non-Linear (</a:t>
            </a:r>
            <a:r>
              <a:rPr lang="en-IN" dirty="0" err="1"/>
              <a:t>nlinfit,lsqcurvefit</a:t>
            </a:r>
            <a:r>
              <a:rPr lang="en-IN" dirty="0"/>
              <a:t>) are the best fits.</a:t>
            </a:r>
          </a:p>
          <a:p>
            <a:r>
              <a:rPr lang="en-IN" dirty="0" err="1"/>
              <a:t>nlinfit</a:t>
            </a:r>
            <a:r>
              <a:rPr lang="en-IN" dirty="0"/>
              <a:t>  is more appropriate that of </a:t>
            </a:r>
            <a:r>
              <a:rPr lang="en-IN" dirty="0" err="1"/>
              <a:t>lsqcurvefit</a:t>
            </a:r>
            <a:r>
              <a:rPr lang="en-IN" dirty="0"/>
              <a:t> -&gt; More Compact St Error and CI.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A2DB0-9CF0-A850-ED3C-C0B62427A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45" y="1100911"/>
            <a:ext cx="6049219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1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Summary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752817"/>
            <a:ext cx="6347714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Successfully estimated Kinetic Parameters using multiple regression techniques.</a:t>
            </a:r>
          </a:p>
          <a:p>
            <a:pPr lvl="1"/>
            <a:r>
              <a:rPr lang="en-US" dirty="0"/>
              <a:t>Best fits shown for non-linear regression (</a:t>
            </a:r>
            <a:r>
              <a:rPr lang="en-US" dirty="0" err="1"/>
              <a:t>nlinfit</a:t>
            </a:r>
            <a:r>
              <a:rPr lang="en-US" dirty="0"/>
              <a:t> and </a:t>
            </a:r>
            <a:r>
              <a:rPr lang="en-US" dirty="0" err="1"/>
              <a:t>lsqcurvefit</a:t>
            </a:r>
            <a:r>
              <a:rPr lang="en-US" dirty="0"/>
              <a:t>) R2 ~ 0.99</a:t>
            </a:r>
          </a:p>
          <a:p>
            <a:pPr lvl="1"/>
            <a:r>
              <a:rPr lang="en-US" dirty="0"/>
              <a:t>Provides robust parameter estimation with small uncertainty for km (~0.077), </a:t>
            </a:r>
            <a:r>
              <a:rPr lang="en-US" dirty="0" err="1"/>
              <a:t>Ea</a:t>
            </a:r>
            <a:r>
              <a:rPr lang="en-US" dirty="0"/>
              <a:t> (~46 KJ/mol)</a:t>
            </a:r>
          </a:p>
          <a:p>
            <a:pPr lvl="1"/>
            <a:r>
              <a:rPr lang="en-US" dirty="0"/>
              <a:t>High </a:t>
            </a:r>
            <a:r>
              <a:rPr lang="en-US" dirty="0" err="1"/>
              <a:t>uncertainity</a:t>
            </a:r>
            <a:r>
              <a:rPr lang="en-US" dirty="0"/>
              <a:t> for reaction orders n (~ 0.06) and m (~ 0.7).</a:t>
            </a:r>
          </a:p>
          <a:p>
            <a:pPr lvl="1"/>
            <a:r>
              <a:rPr lang="en-US" dirty="0"/>
              <a:t>Overall reaction order (~ 0.8) </a:t>
            </a:r>
          </a:p>
          <a:p>
            <a:r>
              <a:rPr lang="en-US" b="1" dirty="0"/>
              <a:t>Model Validation:</a:t>
            </a:r>
            <a:r>
              <a:rPr lang="en-US" dirty="0"/>
              <a:t> Statistical analysis confirms reliability; residuals are random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F4C77-6478-C215-3CA1-F97F5834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LHHW 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4445C-1C14-DEA7-9AAF-85E00049C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8084"/>
            <a:ext cx="6347714" cy="443328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Why go beyond Power Law?</a:t>
            </a:r>
          </a:p>
          <a:p>
            <a:r>
              <a:rPr lang="en-US" dirty="0"/>
              <a:t>Power-law kinetics is </a:t>
            </a:r>
            <a:r>
              <a:rPr lang="en-US" b="1" dirty="0"/>
              <a:t>empirical</a:t>
            </a:r>
            <a:r>
              <a:rPr lang="en-US" dirty="0"/>
              <a:t> → good statistical fit but </a:t>
            </a:r>
            <a:r>
              <a:rPr lang="en-US" b="1" dirty="0"/>
              <a:t>no mechanistic insight</a:t>
            </a:r>
            <a:r>
              <a:rPr lang="en-US" dirty="0"/>
              <a:t>.</a:t>
            </a:r>
          </a:p>
          <a:p>
            <a:r>
              <a:rPr lang="en-US" dirty="0"/>
              <a:t>Cannot explain:</a:t>
            </a:r>
          </a:p>
          <a:p>
            <a:pPr lvl="1"/>
            <a:r>
              <a:rPr lang="en-US" dirty="0"/>
              <a:t>Competitive adsorption</a:t>
            </a:r>
          </a:p>
          <a:p>
            <a:pPr lvl="1"/>
            <a:r>
              <a:rPr lang="en-US" dirty="0"/>
              <a:t>Surface reaction mechanism</a:t>
            </a:r>
          </a:p>
          <a:p>
            <a:pPr lvl="1"/>
            <a:r>
              <a:rPr lang="en-US" dirty="0"/>
              <a:t>Product inhibition</a:t>
            </a:r>
          </a:p>
          <a:p>
            <a:pPr lvl="1"/>
            <a:r>
              <a:rPr lang="en-US" dirty="0"/>
              <a:t>Effect of site coverage</a:t>
            </a:r>
          </a:p>
          <a:p>
            <a:r>
              <a:rPr lang="en-US" dirty="0"/>
              <a:t>LHHW provides a </a:t>
            </a:r>
            <a:r>
              <a:rPr lang="en-US" b="1" dirty="0"/>
              <a:t>mechanistic, surface-kinetics-based</a:t>
            </a:r>
            <a:r>
              <a:rPr lang="en-US" dirty="0"/>
              <a:t> framework.</a:t>
            </a:r>
          </a:p>
          <a:p>
            <a:r>
              <a:rPr lang="en-US" dirty="0"/>
              <a:t>Used when:</a:t>
            </a:r>
          </a:p>
          <a:p>
            <a:pPr lvl="1"/>
            <a:r>
              <a:rPr lang="en-US" dirty="0"/>
              <a:t>Rate-controlling step is </a:t>
            </a:r>
            <a:r>
              <a:rPr lang="en-US" b="1" dirty="0"/>
              <a:t>surface reaction</a:t>
            </a:r>
            <a:endParaRPr lang="en-US" dirty="0"/>
          </a:p>
          <a:p>
            <a:pPr lvl="1"/>
            <a:r>
              <a:rPr lang="en-US" dirty="0"/>
              <a:t>Reactants </a:t>
            </a:r>
            <a:r>
              <a:rPr lang="en-US" b="1" dirty="0"/>
              <a:t>adsorb on active sites</a:t>
            </a:r>
            <a:endParaRPr lang="en-US" dirty="0"/>
          </a:p>
          <a:p>
            <a:pPr lvl="1"/>
            <a:r>
              <a:rPr lang="en-US" dirty="0"/>
              <a:t>Surface coverage influences 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818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8470-85A0-3B7F-B628-B621A3E6E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LHHW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68D9F-2DA0-6691-F6F5-1980220E4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387364"/>
            <a:ext cx="6347714" cy="5318235"/>
          </a:xfrm>
        </p:spPr>
        <p:txBody>
          <a:bodyPr>
            <a:normAutofit/>
          </a:bodyPr>
          <a:lstStyle/>
          <a:p>
            <a:r>
              <a:rPr lang="en-IN" dirty="0"/>
              <a:t>Key Assumptions of LHHW:</a:t>
            </a:r>
          </a:p>
          <a:p>
            <a:pPr lvl="1"/>
            <a:r>
              <a:rPr lang="en-IN" dirty="0"/>
              <a:t>Reaction occurs on active catalyst sites.</a:t>
            </a:r>
          </a:p>
          <a:p>
            <a:pPr lvl="1"/>
            <a:r>
              <a:rPr lang="en-IN" dirty="0"/>
              <a:t>Phenol (P) and Steam (W) adsorb via Langmuir isotherms.</a:t>
            </a:r>
          </a:p>
          <a:p>
            <a:pPr lvl="1"/>
            <a:r>
              <a:rPr lang="en-IN" dirty="0"/>
              <a:t>A single surface-reaction step is rate-controlling.</a:t>
            </a:r>
          </a:p>
          <a:p>
            <a:pPr lvl="1"/>
            <a:r>
              <a:rPr lang="en-IN" dirty="0"/>
              <a:t>No external/internal mass-transfer limitations.</a:t>
            </a:r>
          </a:p>
          <a:p>
            <a:pPr lvl="1"/>
            <a:r>
              <a:rPr lang="en-IN" dirty="0"/>
              <a:t>Catalyst does not deactivate during experiments.</a:t>
            </a:r>
          </a:p>
          <a:p>
            <a:pPr lvl="1"/>
            <a:r>
              <a:rPr lang="en-IN" dirty="0"/>
              <a:t>Ideal-gas behaviour.</a:t>
            </a:r>
          </a:p>
          <a:p>
            <a:r>
              <a:rPr lang="en-IN" dirty="0"/>
              <a:t>We have total of 8 Models (4 Single-site and 4 Dual-sites)</a:t>
            </a:r>
          </a:p>
          <a:p>
            <a:pPr lvl="1"/>
            <a:r>
              <a:rPr lang="en-IN" dirty="0"/>
              <a:t>Both Ph and Steam dissociative.</a:t>
            </a:r>
          </a:p>
          <a:p>
            <a:pPr lvl="1"/>
            <a:r>
              <a:rPr lang="en-IN" dirty="0"/>
              <a:t>Both Ph and Steam non-dissociative.</a:t>
            </a:r>
          </a:p>
          <a:p>
            <a:pPr lvl="1"/>
            <a:r>
              <a:rPr lang="en-IN" dirty="0"/>
              <a:t>Only one dissociative and other non-dissociative and vice-versa.</a:t>
            </a:r>
          </a:p>
        </p:txBody>
      </p:sp>
    </p:spTree>
    <p:extLst>
      <p:ext uri="{BB962C8B-B14F-4D97-AF65-F5344CB8AC3E}">
        <p14:creationId xmlns:p14="http://schemas.microsoft.com/office/powerpoint/2010/main" val="2490491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65F4-81E2-9DFB-2936-A4783283A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4B43C-B92B-2257-065A-D6D64577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LHHW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AA3A0-B585-5BAB-B8D9-3869EE6F5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867" y="1387362"/>
                <a:ext cx="4021666" cy="4083275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IN" dirty="0"/>
                  <a:t>Surface Reaction:   C6H5OH + 11H2O ↔ 6CO2 + 14H2</a:t>
                </a:r>
              </a:p>
              <a:p>
                <a:r>
                  <a:rPr lang="en-IN" dirty="0"/>
                  <a:t>General Rate Expressions:</a:t>
                </a:r>
              </a:p>
              <a:p>
                <a:pPr lvl="1"/>
                <a:r>
                  <a:rPr lang="en-IN" dirty="0"/>
                  <a:t>SS (Both non-dissociative)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𝑆𝑅𝑃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  <m:sup/>
                              </m:sSub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𝑂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6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14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𝑆𝑅𝑃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r>
                  <a:rPr lang="en-IN" dirty="0"/>
                  <a:t>SS (Both dissociative)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𝑆𝑅𝑃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  <m:sup/>
                                  </m:sSub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r>
                  <a:rPr lang="en-IN" dirty="0"/>
                  <a:t>SS (Phenol dissociative only)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𝑆𝑅𝑃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  <m:sup/>
                              </m:sSubSup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</m:e>
                            <m:sup/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pPr lvl="1"/>
                <a:r>
                  <a:rPr lang="en-IN" dirty="0"/>
                  <a:t>SS (Steam dissociative only)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𝑆𝑅𝑃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𝑆𝑅𝑃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  <m:sup/>
                                  </m:sSubSup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𝐻</m:t>
                                          </m:r>
                                        </m:e>
                                        <m:sub>
                                          <m:r>
                                            <a:rPr lang="en-I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IN" i="1">
                                          <a:latin typeface="Cambria Math" panose="02040503050406030204" pitchFamily="18" charset="0"/>
                                        </a:rPr>
                                        <m:t>𝑂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  <m:sSup>
                            <m:sSup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				</a:t>
                </a:r>
              </a:p>
              <a:p>
                <a:pPr marL="457200" lvl="1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AA3A0-B585-5BAB-B8D9-3869EE6F5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867" y="1387362"/>
                <a:ext cx="4021666" cy="4083275"/>
              </a:xfrm>
              <a:blipFill>
                <a:blip r:embed="rId2"/>
                <a:stretch>
                  <a:fillRect t="-8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1A3F3D4-374B-2EC5-7129-FCF70D2186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83455" y="1534223"/>
                <a:ext cx="3749589" cy="39364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None/>
                </a:pPr>
                <a:endParaRPr lang="en-IN" dirty="0"/>
              </a:p>
              <a:p>
                <a:pPr lvl="1"/>
                <a:r>
                  <a:rPr lang="en-IN" sz="1100" dirty="0"/>
                  <a:t>DS (Both non-dissociative)</a:t>
                </a:r>
              </a:p>
              <a:p>
                <a:pPr marL="457200" lvl="1" indent="0">
                  <a:buNone/>
                </a:pPr>
                <a:r>
                  <a:rPr lang="en-IN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𝑆𝑅𝑃</m:t>
                            </m:r>
                          </m:sub>
                        </m:sSub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  <m:d>
                          <m:d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  <m:sup/>
                            </m:sSubSup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  <m:sSub>
                                      <m:sSubPr>
                                        <m:ctrlPr>
                                          <a:rPr lang="en-US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en-US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1100" b="0" i="1" smtClean="0"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p>
                                </m:sSubSup>
                              </m:num>
                              <m:den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𝑆𝑅𝑃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sub>
                        </m:s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1100" dirty="0"/>
              </a:p>
              <a:p>
                <a:pPr lvl="1"/>
                <a:r>
                  <a:rPr lang="en-IN" sz="1100" dirty="0"/>
                  <a:t>DS (Both dissociative)</a:t>
                </a:r>
              </a:p>
              <a:p>
                <a:pPr marL="457200" lvl="1" indent="0">
                  <a:buNone/>
                </a:pPr>
                <a:r>
                  <a:rPr lang="en-IN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𝑆𝑅𝑃</m:t>
                            </m:r>
                          </m:sub>
                        </m:sSub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  <m:sup/>
                                </m:sSubSup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][</m:t>
                        </m:r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IN" sz="1100" dirty="0"/>
              </a:p>
              <a:p>
                <a:pPr lvl="1"/>
                <a:r>
                  <a:rPr lang="en-IN" sz="1100" dirty="0"/>
                  <a:t>DS (Phenol dissociative only)</a:t>
                </a:r>
              </a:p>
              <a:p>
                <a:pPr marL="457200" lvl="1" indent="0">
                  <a:buNone/>
                </a:pPr>
                <a:r>
                  <a:rPr lang="en-IN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𝑆𝑅𝑃</m:t>
                            </m:r>
                          </m:sub>
                        </m:sSub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  <m:sup/>
                            </m:sSubSup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](</m:t>
                        </m:r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sub>
                            </m:sSub>
                          </m:e>
                          <m:sup/>
                        </m:sSup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1100" dirty="0"/>
              </a:p>
              <a:p>
                <a:pPr lvl="1"/>
                <a:r>
                  <a:rPr lang="en-IN" sz="1100" dirty="0"/>
                  <a:t>DS (Steam dissociative only)</a:t>
                </a:r>
              </a:p>
              <a:p>
                <a:pPr marL="457200" lvl="1" indent="0">
                  <a:buNone/>
                </a:pPr>
                <a:r>
                  <a:rPr lang="en-IN" sz="1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𝑆𝑅𝑃</m:t>
                        </m:r>
                      </m:sub>
                    </m:sSub>
                    <m:r>
                      <a:rPr lang="en-IN" sz="11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𝑆𝑅𝑃</m:t>
                            </m:r>
                          </m:sub>
                        </m:sSub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IN" sz="11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IN" sz="11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  <m:sup/>
                                </m:sSubSup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sSub>
                          <m:sSubPr>
                            <m:ctrlPr>
                              <a:rPr lang="en-IN" sz="1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11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)[</m:t>
                        </m:r>
                        <m:sSup>
                          <m:sSupPr>
                            <m:ctrlPr>
                              <a:rPr lang="en-US" sz="1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IN" sz="11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𝐻</m:t>
                                        </m:r>
                                      </m:e>
                                      <m:sub>
                                        <m:r>
                                          <a:rPr lang="en-IN" sz="11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1100" b="0" i="1" smtClean="0"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1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endParaRPr lang="en-IN" sz="1100" dirty="0"/>
              </a:p>
              <a:p>
                <a:pPr marL="457200" lvl="1" indent="0">
                  <a:buFont typeface="Wingdings 3" charset="2"/>
                  <a:buNone/>
                </a:pPr>
                <a:r>
                  <a:rPr lang="en-IN" dirty="0"/>
                  <a:t>				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1A3F3D4-374B-2EC5-7129-FCF70D218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455" y="1534223"/>
                <a:ext cx="3749589" cy="3936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4F0087-16F8-CDEE-A7E7-DD538C2EA4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599" y="5003799"/>
                <a:ext cx="6807200" cy="20658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62500" lnSpcReduction="2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SzPct val="80000"/>
                  <a:buFont typeface="Wingdings 3" charset="2"/>
                  <a:buChar char="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None/>
                </a:pPr>
                <a:endParaRPr lang="en-IN" dirty="0"/>
              </a:p>
              <a:p>
                <a:r>
                  <a:rPr lang="en-IN" i="1" dirty="0"/>
                  <a:t>Arrhenius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US" i="1"/>
                            <m:t>𝑘</m:t>
                          </m:r>
                        </m:e>
                        <m:sub>
                          <m:r>
                            <a:rPr lang="en-US" i="1"/>
                            <m:t>𝑆𝑅𝑃</m:t>
                          </m:r>
                        </m:sub>
                      </m:sSub>
                      <m:r>
                        <a:rPr lang="en-US" i="1"/>
                        <m:t>=</m:t>
                      </m:r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US" i="1"/>
                            <m:t>𝑘</m:t>
                          </m:r>
                        </m:e>
                        <m:sub>
                          <m:r>
                            <a:rPr lang="en-US" i="1"/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/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US" i="1"/>
                                <m:t>−</m:t>
                              </m:r>
                              <m:f>
                                <m:fPr>
                                  <m:ctrlPr>
                                    <a:rPr lang="en-IN" i="1"/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IN" i="1"/>
                                      </m:ctrlPr>
                                    </m:sSubPr>
                                    <m:e>
                                      <m:r>
                                        <a:rPr lang="en-US" i="1"/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/>
                                    <m:t>𝑅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/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i="1"/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N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i="1"/>
                        <m:t> </m:t>
                      </m:r>
                    </m:oMath>
                  </m:oMathPara>
                </a14:m>
                <a:endParaRPr lang="en-IN" dirty="0"/>
              </a:p>
              <a:p>
                <a:r>
                  <a:rPr lang="en-IN" i="1" dirty="0"/>
                  <a:t>Van’t Hoff Adsorption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/>
                          </m:ctrlPr>
                        </m:sSubSupPr>
                        <m:e>
                          <m:r>
                            <a:rPr lang="en-US" i="1"/>
                            <m:t>𝐾</m:t>
                          </m:r>
                        </m:e>
                        <m:sub>
                          <m:r>
                            <a:rPr lang="en-US" i="1"/>
                            <m:t>𝑖</m:t>
                          </m:r>
                        </m:sub>
                        <m:sup>
                          <m:r>
                            <a:rPr lang="en-US" i="1"/>
                            <m:t>𝑎𝑑𝑠</m:t>
                          </m:r>
                        </m:sup>
                      </m:sSubSup>
                      <m:r>
                        <a:rPr lang="en-US" i="1"/>
                        <m:t>=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/>
                            <m:t>exp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IN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△</m:t>
                                  </m:r>
                                  <m:sSubSup>
                                    <m:sSubSupPr>
                                      <m:ctrlPr>
                                        <a:rPr lang="en-IN" i="1"/>
                                      </m:ctrlPr>
                                    </m:sSubSupPr>
                                    <m:e>
                                      <m:r>
                                        <a:rPr lang="en-US" i="1"/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/>
                                        <m:t>𝑎𝑑𝑠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/>
                                    <m:t>𝑅</m:t>
                                  </m:r>
                                </m:den>
                              </m:f>
                              <m:r>
                                <a:rPr lang="en-US" i="1"/>
                                <m:t>−</m:t>
                              </m:r>
                              <m:f>
                                <m:fPr>
                                  <m:ctrlPr>
                                    <a:rPr lang="en-IN" i="1"/>
                                  </m:ctrlPr>
                                </m:fPr>
                                <m:num>
                                  <m:r>
                                    <a:rPr lang="en-US" i="1"/>
                                    <m:t>△</m:t>
                                  </m:r>
                                  <m:sSubSup>
                                    <m:sSubSupPr>
                                      <m:ctrlPr>
                                        <a:rPr lang="en-IN" i="1"/>
                                      </m:ctrlPr>
                                    </m:sSubSupPr>
                                    <m:e>
                                      <m:r>
                                        <a:rPr lang="en-US" i="1"/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i="1"/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/>
                                        <m:t>𝑎𝑑𝑠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i="1"/>
                                    <m:t>𝑅</m:t>
                                  </m:r>
                                </m:den>
                              </m:f>
                              <m:r>
                                <a:rPr lang="en-US" i="1"/>
                                <m:t> </m:t>
                              </m:r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IN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/>
                                        <m:t>𝑇</m:t>
                                      </m:r>
                                    </m:den>
                                  </m:f>
                                  <m:r>
                                    <a:rPr lang="en-US" i="1"/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IN" i="1"/>
                                      </m:ctrlPr>
                                    </m:fPr>
                                    <m:num>
                                      <m:r>
                                        <a:rPr lang="en-US" i="1"/>
                                        <m:t>1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IN" i="1"/>
                                          </m:ctrlPr>
                                        </m:sSubPr>
                                        <m:e>
                                          <m:r>
                                            <a:rPr lang="en-US" i="1"/>
                                            <m:t>𝑇</m:t>
                                          </m:r>
                                        </m:e>
                                        <m:sub>
                                          <m:r>
                                            <a:rPr lang="en-US" i="1"/>
                                            <m:t>𝑚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pPr lvl="1"/>
                <a:r>
                  <a:rPr lang="en-IN" sz="1100" dirty="0"/>
                  <a:t> </a:t>
                </a:r>
              </a:p>
              <a:p>
                <a:pPr marL="457200" lvl="1" indent="0">
                  <a:buFont typeface="Wingdings 3" charset="2"/>
                  <a:buNone/>
                </a:pPr>
                <a:r>
                  <a:rPr lang="en-IN" dirty="0"/>
                  <a:t>				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84F0087-16F8-CDEE-A7E7-DD538C2EA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" y="5003799"/>
                <a:ext cx="6807200" cy="20658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624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829E-5376-0D01-C000-5F7A7A1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Estimation Technique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2E3B5-A508-E9DE-F9D9-D6EC8764D4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1524000"/>
                <a:ext cx="6347714" cy="4859867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IN" b="1" dirty="0"/>
                  <a:t>Global Nonlinear Regression</a:t>
                </a:r>
              </a:p>
              <a:p>
                <a:r>
                  <a:rPr lang="en-IN" dirty="0"/>
                  <a:t>15 datapoints (5 experiments × 3 temperatures)</a:t>
                </a:r>
              </a:p>
              <a:p>
                <a:r>
                  <a:rPr lang="en-IN" dirty="0"/>
                  <a:t>The four unknown parameters from each model: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,"/>
                          <m:ctrlPr>
                            <a:rPr lang="ur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lang="ur-IN" i="1"/>
                            <m:t>  </m:t>
                          </m:r>
                        </m:e>
                        <m:e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m:rPr>
                              <m:nor/>
                            </m:rPr>
                            <a:rPr lang="ur-IN" i="1"/>
                            <m:t>  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ur-IN" i="1"/>
                            <m:t>  </m:t>
                          </m:r>
                          <m:r>
                            <m:rPr>
                              <m:sty m:val="p"/>
                            </m:rPr>
                            <a:rPr lang="el-GR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ur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ur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r>
                  <a:rPr lang="en-IN" dirty="0"/>
                  <a:t>Minimization of: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𝑆𝑆𝐸</m:t>
                        </m:r>
                      </m:e>
                      <m:sub/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𝑒𝑥𝑝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𝑚𝑜𝑑𝑒𝑙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IN" dirty="0"/>
                  <a:t>MATLAB solver: </a:t>
                </a:r>
                <a:r>
                  <a:rPr lang="en-IN" b="1" dirty="0" err="1"/>
                  <a:t>lsqnonlin</a:t>
                </a:r>
                <a:r>
                  <a:rPr lang="en-IN" dirty="0"/>
                  <a:t> (Levenberg–Marquardt)</a:t>
                </a:r>
              </a:p>
              <a:p>
                <a:r>
                  <a:rPr lang="en-IN" dirty="0"/>
                  <a:t>16 scenarios run:</a:t>
                </a:r>
              </a:p>
              <a:p>
                <a:pPr lvl="1"/>
                <a:r>
                  <a:rPr lang="en-IN" dirty="0"/>
                  <a:t>4 parameters free</a:t>
                </a:r>
              </a:p>
              <a:p>
                <a:pPr lvl="1"/>
                <a:r>
                  <a:rPr lang="en-IN" dirty="0"/>
                  <a:t>3 parameters free (×4 combinations)</a:t>
                </a:r>
              </a:p>
              <a:p>
                <a:pPr lvl="1"/>
                <a:r>
                  <a:rPr lang="en-IN" dirty="0"/>
                  <a:t>2 parameters free (×6 combinations)</a:t>
                </a:r>
              </a:p>
              <a:p>
                <a:pPr lvl="1"/>
                <a:r>
                  <a:rPr lang="en-IN" dirty="0"/>
                  <a:t>1 parameter free (×4 combinations)</a:t>
                </a:r>
              </a:p>
              <a:p>
                <a:pPr lvl="1"/>
                <a:r>
                  <a:rPr lang="en-IN" dirty="0"/>
                  <a:t>All fixed</a:t>
                </a:r>
              </a:p>
              <a:p>
                <a:r>
                  <a:rPr lang="en-IN" dirty="0"/>
                  <a:t>This systematic approach reveals identifiability &amp; parameter correlations.</a:t>
                </a:r>
              </a:p>
              <a:p>
                <a:r>
                  <a:rPr lang="en-US" dirty="0"/>
                  <a:t>The thermodynamics consistency verification using </a:t>
                </a:r>
                <a:r>
                  <a:rPr lang="en-US" dirty="0" err="1"/>
                  <a:t>Boudart</a:t>
                </a:r>
                <a:r>
                  <a:rPr lang="en-US" dirty="0"/>
                  <a:t>−Mears− Vannice guidelines  during parameter estimation.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&lt;−△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0014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△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22E3B5-A508-E9DE-F9D9-D6EC8764D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1524000"/>
                <a:ext cx="6347714" cy="4859867"/>
              </a:xfrm>
              <a:blipFill>
                <a:blip r:embed="rId2"/>
                <a:stretch>
                  <a:fillRect t="-1129" r="-4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2252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C65B-B5E4-566F-5ACA-59D5AC5A0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599"/>
            <a:ext cx="6347713" cy="6519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</a:t>
            </a:r>
            <a:br>
              <a:rPr lang="en-US" dirty="0"/>
            </a:br>
            <a:r>
              <a:rPr lang="en-US" dirty="0"/>
              <a:t>Table 1 (Arrhenius params)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AE5F5-CCB5-ED69-D00F-E259F296C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FB0163-C6F4-4624-2608-FF5D5F17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7474"/>
            <a:ext cx="9144000" cy="378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672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6E45-FB28-18C8-3C56-A2FDF5537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AEB9E-FE6E-BB35-4451-080EC4637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599"/>
            <a:ext cx="6347713" cy="65193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Results </a:t>
            </a:r>
            <a:br>
              <a:rPr lang="en-US" dirty="0"/>
            </a:br>
            <a:r>
              <a:rPr lang="en-US" dirty="0"/>
              <a:t>Table 2 (Adsorption params)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09363-EE16-9974-5A3A-8EF8C67CD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Note: Change in enthalpy written in italics are known from literatures.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30854-F414-9D73-4F47-40805A81C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4334"/>
            <a:ext cx="9144000" cy="252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333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BE50-2F59-8406-87CF-B7E3F41A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599"/>
            <a:ext cx="6347713" cy="1380067"/>
          </a:xfrm>
        </p:spPr>
        <p:txBody>
          <a:bodyPr/>
          <a:lstStyle/>
          <a:p>
            <a:r>
              <a:rPr lang="en-IN" dirty="0"/>
              <a:t>Interpretation of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2A3C8-E0D9-F315-55E3-BAE5828E6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27190"/>
            <a:ext cx="6347714" cy="4799010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Model Selection</a:t>
            </a:r>
          </a:p>
          <a:p>
            <a:pPr lvl="1"/>
            <a:r>
              <a:rPr lang="en-US" dirty="0"/>
              <a:t>Lowest RMSE obtained for both-dissociative models (</a:t>
            </a:r>
            <a:r>
              <a:rPr lang="en-US" dirty="0" err="1"/>
              <a:t>SS_both_diss</a:t>
            </a:r>
            <a:r>
              <a:rPr lang="en-US" dirty="0"/>
              <a:t> &amp; </a:t>
            </a:r>
            <a:r>
              <a:rPr lang="en-US" dirty="0" err="1"/>
              <a:t>DS_both_diss</a:t>
            </a:r>
            <a:r>
              <a:rPr lang="en-US" dirty="0"/>
              <a:t> ~4.2×10⁻³)</a:t>
            </a:r>
          </a:p>
          <a:p>
            <a:pPr lvl="1"/>
            <a:r>
              <a:rPr lang="en-US" dirty="0"/>
              <a:t>Indicates that dissociative adsorption of both phenol and steam best represents the reaction mechanism.</a:t>
            </a:r>
          </a:p>
          <a:p>
            <a:r>
              <a:rPr lang="en-IN" dirty="0"/>
              <a:t>Activation Energy (</a:t>
            </a:r>
            <a:r>
              <a:rPr lang="en-IN" dirty="0" err="1"/>
              <a:t>Ea</a:t>
            </a:r>
            <a:r>
              <a:rPr lang="en-IN" dirty="0"/>
              <a:t>) Trends</a:t>
            </a:r>
          </a:p>
          <a:p>
            <a:pPr lvl="1"/>
            <a:r>
              <a:rPr lang="en-IN" dirty="0" err="1"/>
              <a:t>Ea</a:t>
            </a:r>
            <a:r>
              <a:rPr lang="en-IN" dirty="0"/>
              <a:t> increases in order:</a:t>
            </a:r>
            <a:br>
              <a:rPr lang="en-IN" dirty="0"/>
            </a:br>
            <a:r>
              <a:rPr lang="en-IN" dirty="0" err="1"/>
              <a:t>both_diss</a:t>
            </a:r>
            <a:r>
              <a:rPr lang="en-IN" dirty="0"/>
              <a:t> (~97 kJ/mol) &lt; </a:t>
            </a:r>
            <a:r>
              <a:rPr lang="en-IN" dirty="0" err="1"/>
              <a:t>P_diss</a:t>
            </a:r>
            <a:r>
              <a:rPr lang="en-IN" dirty="0"/>
              <a:t> (~110 kJ/mol) &lt; </a:t>
            </a:r>
            <a:r>
              <a:rPr lang="en-IN" dirty="0" err="1"/>
              <a:t>W_diss</a:t>
            </a:r>
            <a:r>
              <a:rPr lang="en-IN" dirty="0"/>
              <a:t> (~140 kJ/mol) &lt; </a:t>
            </a:r>
            <a:r>
              <a:rPr lang="en-IN" dirty="0" err="1"/>
              <a:t>nondiss</a:t>
            </a:r>
            <a:r>
              <a:rPr lang="en-IN" dirty="0"/>
              <a:t> (~157 kJ/mol)</a:t>
            </a:r>
          </a:p>
          <a:p>
            <a:pPr lvl="1"/>
            <a:r>
              <a:rPr lang="en-US" dirty="0"/>
              <a:t>Lower </a:t>
            </a:r>
            <a:r>
              <a:rPr lang="en-US" dirty="0" err="1"/>
              <a:t>Ea</a:t>
            </a:r>
            <a:r>
              <a:rPr lang="en-US" dirty="0"/>
              <a:t> for </a:t>
            </a:r>
            <a:r>
              <a:rPr lang="en-US" dirty="0" err="1"/>
              <a:t>both_diss</a:t>
            </a:r>
            <a:r>
              <a:rPr lang="en-US" dirty="0"/>
              <a:t> models → more realistic and kinetically favorable pathway.</a:t>
            </a:r>
          </a:p>
          <a:p>
            <a:r>
              <a:rPr lang="en-IN" dirty="0"/>
              <a:t>Pre-exponential Factor (kₘ)</a:t>
            </a:r>
          </a:p>
          <a:p>
            <a:pPr lvl="1"/>
            <a:r>
              <a:rPr lang="en-US" dirty="0"/>
              <a:t>Dissociative models show lower kₘ values, indicating better mechanistic representation.</a:t>
            </a:r>
          </a:p>
          <a:p>
            <a:r>
              <a:rPr lang="en-IN" dirty="0"/>
              <a:t>Thermodynamic Consistency</a:t>
            </a:r>
          </a:p>
          <a:p>
            <a:pPr lvl="1"/>
            <a:r>
              <a:rPr lang="en-US" dirty="0"/>
              <a:t>ΔS values are negative for all cases - confirms entropy loss during adsorption.</a:t>
            </a:r>
          </a:p>
          <a:p>
            <a:pPr lvl="1"/>
            <a:r>
              <a:rPr lang="en-US" dirty="0"/>
              <a:t>Water shows more negative ΔS than phenol - stronger surface interaction of steam.</a:t>
            </a:r>
          </a:p>
          <a:p>
            <a:r>
              <a:rPr lang="en-US" dirty="0"/>
              <a:t>The reaction is best described by a LHHW mechanism with dissociative adsorption of both phenol and H₂O, followed by surface reaction as the rate-controlling step.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474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009F-F81D-5755-0A02-ACF35506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1320800"/>
          </a:xfrm>
        </p:spPr>
        <p:txBody>
          <a:bodyPr/>
          <a:lstStyle/>
          <a:p>
            <a:pPr algn="ctr"/>
            <a:r>
              <a:rPr lang="en-IN" dirty="0"/>
              <a:t>Parity and Residual Plots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809172-1DFB-9686-2F41-CD563B971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1053"/>
            <a:ext cx="4619082" cy="3024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38AAB-F7DB-3B59-DB6D-BADA86A6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083" y="1031052"/>
            <a:ext cx="4465937" cy="30244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0AD4EB-1A0F-B92C-45EF-AB87F0AEE8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5533"/>
            <a:ext cx="4284133" cy="28024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A621F4-7491-96AE-0C1A-FF70BD981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132" y="4055533"/>
            <a:ext cx="4859867" cy="280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0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D0776-E856-6828-5F33-451C5AD64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C881-6BEC-47E0-3CC9-9E9534249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266" y="491067"/>
            <a:ext cx="6347713" cy="1320800"/>
          </a:xfrm>
        </p:spPr>
        <p:txBody>
          <a:bodyPr/>
          <a:lstStyle/>
          <a:p>
            <a:pPr algn="ctr"/>
            <a:r>
              <a:rPr lang="en-IN" dirty="0"/>
              <a:t>Parity Plots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ADB55F-1F59-EF22-DBE3-BE681E7B2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133"/>
            <a:ext cx="9144000" cy="5240867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FAED4-BB46-DDF1-9785-3BA6FCBE4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7130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38D3B-3167-793D-C248-AD2F89B4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1F53-97FB-F41F-96C1-A7D026652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465" y="683553"/>
            <a:ext cx="6347713" cy="1320800"/>
          </a:xfrm>
        </p:spPr>
        <p:txBody>
          <a:bodyPr/>
          <a:lstStyle/>
          <a:p>
            <a:pPr algn="ctr"/>
            <a:r>
              <a:rPr lang="en-IN" dirty="0"/>
              <a:t>Residual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E6225-D64C-A979-3F2B-83AA10AE9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661CEC-79B9-CA95-03BA-8E6DFC24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8733"/>
            <a:ext cx="9144000" cy="513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098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79D75-751E-70BA-81B7-FC502A1E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</a:t>
            </a:r>
            <a:br>
              <a:rPr lang="en-IN" dirty="0"/>
            </a:br>
            <a:r>
              <a:rPr lang="en-IN" dirty="0"/>
              <a:t>LHHW Kinetic Modelling</a:t>
            </a:r>
            <a:endParaRPr lang="en-I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B08E2-491F-3AA5-56A8-B42C5F49EA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599" y="2160590"/>
                <a:ext cx="6347714" cy="4418886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LHHW mechanism applied to PSR kinetics with 8 Model scenarios.</a:t>
                </a:r>
              </a:p>
              <a:p>
                <a:r>
                  <a:rPr lang="en-IN" dirty="0"/>
                  <a:t>Reason for high errors:</a:t>
                </a:r>
              </a:p>
              <a:p>
                <a:pPr lvl="1"/>
                <a:r>
                  <a:rPr lang="en-IN" dirty="0"/>
                  <a:t>Strong parameter correlation 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ur-IN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ur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ur-IN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ur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ur-I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ur-IN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IN" dirty="0"/>
                  <a:t>not independent)</a:t>
                </a:r>
              </a:p>
              <a:p>
                <a:pPr lvl="1"/>
                <a:r>
                  <a:rPr lang="en-IN" dirty="0"/>
                  <a:t>Very small dataset (15 points) → underdetermined 4-parameter model</a:t>
                </a:r>
              </a:p>
              <a:p>
                <a:pPr lvl="1"/>
                <a:r>
                  <a:rPr lang="en-IN" dirty="0"/>
                  <a:t>Adsorption constants weakly sensitive at experimental conditions</a:t>
                </a:r>
              </a:p>
              <a:p>
                <a:r>
                  <a:rPr lang="en-US" dirty="0"/>
                  <a:t>Fully free model gives lowest SSE but </a:t>
                </a:r>
                <a:r>
                  <a:rPr lang="en-US" b="1" dirty="0"/>
                  <a:t>unrealistic Eᵢ → overfitting</a:t>
                </a:r>
                <a:r>
                  <a:rPr lang="en-US" dirty="0"/>
                  <a:t>.</a:t>
                </a:r>
              </a:p>
              <a:p>
                <a:r>
                  <a:rPr lang="en-IN" dirty="0"/>
                  <a:t>Best practical model: </a:t>
                </a:r>
                <a:r>
                  <a:rPr lang="en-US" dirty="0"/>
                  <a:t>LHHW mechanism with dissociative adsorption of both phenol and H₂O</a:t>
                </a:r>
                <a:r>
                  <a:rPr lang="en-IN" dirty="0"/>
                  <a:t>.</a:t>
                </a:r>
              </a:p>
              <a:p>
                <a:pPr lvl="1"/>
                <a:r>
                  <a:rPr lang="en-IN" dirty="0"/>
                  <a:t>Realistic Apparent activation energy (~97 kJ/mol)</a:t>
                </a:r>
              </a:p>
              <a:p>
                <a:pPr lvl="1"/>
                <a:r>
                  <a:rPr lang="en-IN" dirty="0"/>
                  <a:t>Stable entropic parameters</a:t>
                </a:r>
              </a:p>
              <a:p>
                <a:pPr lvl="1"/>
                <a:r>
                  <a:rPr lang="en-IN" dirty="0"/>
                  <a:t>Good fit (RMSE ≈ 4.2 E-3)</a:t>
                </a:r>
              </a:p>
              <a:p>
                <a:r>
                  <a:rPr lang="en-US" dirty="0"/>
                  <a:t>LMHW model is valid but needs </a:t>
                </a:r>
                <a:r>
                  <a:rPr lang="en-US" b="1" dirty="0"/>
                  <a:t>more data + wider operating window</a:t>
                </a:r>
                <a:r>
                  <a:rPr lang="en-US" dirty="0"/>
                  <a:t> for accurate parameter estimation.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B08E2-491F-3AA5-56A8-B42C5F49E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599" y="2160590"/>
                <a:ext cx="6347714" cy="4418886"/>
              </a:xfrm>
              <a:blipFill>
                <a:blip r:embed="rId2"/>
                <a:stretch>
                  <a:fillRect t="-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403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4CCC-F782-E236-A465-A416F08B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80FD-72F3-BE8A-CFBE-F445E0918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https://www.sciencedirect.com/science/article/pii/S0016236122035359</a:t>
            </a:r>
            <a:endParaRPr lang="en-IN" dirty="0"/>
          </a:p>
          <a:p>
            <a:r>
              <a:rPr lang="en-IN" dirty="0">
                <a:hlinkClick r:id="rId3"/>
              </a:rPr>
              <a:t>https://www.sciencedirect.com/science/article/pii/S0016236124002485</a:t>
            </a:r>
            <a:endParaRPr lang="en-IN" dirty="0"/>
          </a:p>
          <a:p>
            <a:r>
              <a:rPr lang="en-IN" dirty="0">
                <a:hlinkClick r:id="rId4"/>
              </a:rPr>
              <a:t>https://www.sciencedirect.com/science/article/pii/S2213343716303736</a:t>
            </a:r>
            <a:endParaRPr lang="en-IN" dirty="0"/>
          </a:p>
          <a:p>
            <a:r>
              <a:rPr lang="en-IN" dirty="0">
                <a:hlinkClick r:id="rId5"/>
              </a:rPr>
              <a:t>https://pubs.acs.org/doi/full/10.1021/ acs.iecr.5b03828</a:t>
            </a:r>
            <a:endParaRPr lang="en-IN" dirty="0"/>
          </a:p>
          <a:p>
            <a:r>
              <a:rPr lang="en-US" dirty="0"/>
              <a:t>H. Scott Fogler. Elements of Chemical Reaction Engineering. 5th Edition.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51356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3568</TotalTime>
  <Words>1458</Words>
  <Application>Microsoft Office PowerPoint</Application>
  <PresentationFormat>On-screen Show (4:3)</PresentationFormat>
  <Paragraphs>237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Trebuchet MS</vt:lpstr>
      <vt:lpstr>Wingdings 3</vt:lpstr>
      <vt:lpstr>Facet</vt:lpstr>
      <vt:lpstr>Kinetic Modeling of Phenol Steam Reforming in a Fixed Bed Reactor       - CP302                -Guided by:               Dr. Tarak Mondal</vt:lpstr>
      <vt:lpstr>Introduction</vt:lpstr>
      <vt:lpstr>Project Objectives</vt:lpstr>
      <vt:lpstr>Kinetic Models Considered</vt:lpstr>
      <vt:lpstr>Estimation of Kinetic Model Parameters</vt:lpstr>
      <vt:lpstr>Regression Techniques</vt:lpstr>
      <vt:lpstr>Results Multiple Linear Regression</vt:lpstr>
      <vt:lpstr>PowerPoint Presentation</vt:lpstr>
      <vt:lpstr>Results Global Linear Regression</vt:lpstr>
      <vt:lpstr>Results Non-Linear Regression</vt:lpstr>
      <vt:lpstr>PowerPoint Presentation</vt:lpstr>
      <vt:lpstr>Results Non-Linear Regression</vt:lpstr>
      <vt:lpstr>PowerPoint Presentation</vt:lpstr>
      <vt:lpstr>Results Non-Linear Regression</vt:lpstr>
      <vt:lpstr>PowerPoint Presentation</vt:lpstr>
      <vt:lpstr>Model Validation </vt:lpstr>
      <vt:lpstr>Model Validation </vt:lpstr>
      <vt:lpstr>Model Validation </vt:lpstr>
      <vt:lpstr>Model Validation </vt:lpstr>
      <vt:lpstr>Error Distributions</vt:lpstr>
      <vt:lpstr>Model Comparison</vt:lpstr>
      <vt:lpstr>Summary and Conclusion</vt:lpstr>
      <vt:lpstr>LHHW Model Overview</vt:lpstr>
      <vt:lpstr>LHHW Model</vt:lpstr>
      <vt:lpstr>LHHW Model</vt:lpstr>
      <vt:lpstr>Estimation Technique</vt:lpstr>
      <vt:lpstr>Results  Table 1 (Arrhenius params)     </vt:lpstr>
      <vt:lpstr>Results  Table 2 (Adsorption params)     </vt:lpstr>
      <vt:lpstr>Interpretation of Parameters</vt:lpstr>
      <vt:lpstr>Parity and Residual Plots </vt:lpstr>
      <vt:lpstr>Parity Plots </vt:lpstr>
      <vt:lpstr>Residual Plots</vt:lpstr>
      <vt:lpstr>Conclusion  LHHW Kinetic Modelling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Sayed Musaraf Ali</dc:creator>
  <cp:keywords/>
  <dc:description>generated using python-pptx</dc:description>
  <cp:lastModifiedBy>Sayed Musaraf Ali</cp:lastModifiedBy>
  <cp:revision>15</cp:revision>
  <dcterms:created xsi:type="dcterms:W3CDTF">2013-01-27T09:14:16Z</dcterms:created>
  <dcterms:modified xsi:type="dcterms:W3CDTF">2026-02-03T05:26:39Z</dcterms:modified>
  <cp:category/>
</cp:coreProperties>
</file>